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4F045-AFC4-424A-9C4D-2E60B243F379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FAF23-EC59-4191-B9A6-6B9A900E9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C4DA1-637A-5B17-BCB8-0B493A1EE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D8B544-A910-7F12-1EDE-2F2810341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75DCC6-C403-654D-B988-0FCB8907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56725-E6F9-131A-AB2D-09F40E7A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2F38-CE8E-444E-A13B-0C2F7B50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28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50C64-BCF1-0076-7936-61D2C8FA0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99E826-1DF7-559E-6282-4E6CB8B2A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AC4FF-6FF2-D76C-7CF7-E9AEE549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52BA1-A41A-D805-204D-84C79F1A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9089F-7B22-5AFB-2F1B-3A47FC50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36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27859-B69C-9907-9589-6A5AA372B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5550A3-22CE-E332-F992-37FD832D6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7C013-5D46-1ED3-D8D5-6E18D441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DE4BB-A0B4-A517-742B-79DF7F4F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77C1CF-3D4C-BC7F-129F-5FC320C8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60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E54E1-9BE5-FFE3-D017-22B127F5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379B95-7714-C308-2642-2766AB9A2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979319-D19D-51BA-19BD-4C804CE09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679C53-3D26-3584-F3E3-DF441944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DDF147-C2D9-09AD-223A-1826EB4F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27F98-6AFE-83E3-5A10-F61050FB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9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0875B-C7D4-503E-653E-095D60C5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FEA960-353C-AC72-B418-767F0219E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C79C1-81F1-FDD0-EE8C-28E348CFF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A3B3F5-EE55-D762-610B-4671C055D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A9BC7D-B61A-EE78-FE5A-4A59EFE50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3EA7D9-34BF-B406-0E2C-03B8D851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FBE55A-845E-749B-1E39-3FE717E0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2D6E3F-11C0-ED59-77B6-BAF9CEBE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02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287E7-AE0B-4BFF-87CC-6C4AE21D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DE1C0A-DAC8-7356-CA1F-414BFD5A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6171F8-CC85-B140-A59D-9D50B868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28E93B-D047-58C3-1AC0-90D79F72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91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8FF9E4-358B-6EDD-DBB7-36B3B97C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254220-6953-0325-5E8B-4A78C58E4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29040-D647-9D7C-21C1-65E89387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1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46D68-B707-0B71-7E79-6AEEE47A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C0C126-FAC1-E685-939A-3158F6706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E9CC27-CB87-4225-C362-48581A8F2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3C012F-EFD0-9607-CE7C-C98DDBE9C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96CDD-F5F3-69AF-DE53-ED15051A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968728-6170-C899-BFA7-01FEC85F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09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6CD3A-BD83-4B03-C0A4-7172C1E1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7F7523-E1A0-8453-4817-51039CD05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C5FB7D-BF43-3DE8-434A-E46304E30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CC3D8-B3CA-D9B4-E99B-F09FD99B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FC86B1-F420-0400-BA26-A3134773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7C189-D3A3-E0D0-D086-9ECE7DD4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125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780FA-5111-E7C9-F90D-73B35EFD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B407BA-97F8-FD67-D1B3-6D8567319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9AED8-5A9B-3502-23CE-05B056AB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3356D8-5E42-5C7A-3CEF-8C2EBD15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6317B-203C-26E7-EB8D-E2C2C0EB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93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2C498A-90CE-AE6A-828E-ED07A545C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443A7D-BEEC-DE6D-1967-60035DF52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552B5-DC8A-28F0-503A-0D907BA0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539C3-308C-D67B-213B-48DA65F6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28F57-C3D4-F10C-59F7-83619ABA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00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79F6A9-12AF-7EB2-2DA1-1233B4A5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29FE1-FECB-61A9-AD17-16D0AFF96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71ABC-AD24-BAC4-AA4E-50DA4DC77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15F57-7705-4F3C-B73B-2A33951C44B7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34FCBC-5F7B-91AE-D138-477556DBA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B2CCC-493A-003A-0C7A-6F405101F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1E60-A4E6-41EA-9581-18AB3892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51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6.xml"/><Relationship Id="rId7" Type="http://schemas.openxmlformats.org/officeDocument/2006/relationships/image" Target="../media/image9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5E11E-98BD-4E00-84CD-8E14B0529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183"/>
            <a:ext cx="9144000" cy="988219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Inconsolata" panose="00000509000000000000" pitchFamily="49" charset="0"/>
                <a:ea typeface="Inconsolata" panose="00000509000000000000" pitchFamily="49" charset="0"/>
              </a:rPr>
              <a:t>Low level Policy trainging </a:t>
            </a:r>
            <a:endParaRPr lang="zh-CN" altLang="en-US" b="1" dirty="0">
              <a:latin typeface="Inconsolata" panose="00000509000000000000" pitchFamily="49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E830AB-124C-20ED-D20E-FBB4FB25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8323" y="5299162"/>
            <a:ext cx="9144000" cy="1655762"/>
          </a:xfrm>
        </p:spPr>
        <p:txBody>
          <a:bodyPr/>
          <a:lstStyle/>
          <a:p>
            <a:pPr algn="r"/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by Zhexiong Wang</a:t>
            </a:r>
          </a:p>
          <a:p>
            <a:pPr algn="r"/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2025-12-03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268758-AFF5-CD4D-D391-0650DF328397}"/>
              </a:ext>
            </a:extLst>
          </p:cNvPr>
          <p:cNvSpPr/>
          <p:nvPr/>
        </p:nvSpPr>
        <p:spPr>
          <a:xfrm>
            <a:off x="0" y="4879453"/>
            <a:ext cx="12192000" cy="170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4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E92BDE-A956-6BD3-1CB6-6F79FB69B609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18FC67-AB74-72F2-2F39-57A242E16412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1 Simple self-introduction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61FDA7-76DA-9801-DF11-022DE6975474}"/>
              </a:ext>
            </a:extLst>
          </p:cNvPr>
          <p:cNvSpPr txBox="1"/>
          <p:nvPr/>
        </p:nvSpPr>
        <p:spPr>
          <a:xfrm>
            <a:off x="4715865" y="2786792"/>
            <a:ext cx="6144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i="0" u="none" strike="noStrike" baseline="0" dirty="0">
                <a:solidFill>
                  <a:srgbClr val="333333"/>
                </a:solidFill>
                <a:latin typeface="SourceSerifPro-Bold-Identity-H"/>
              </a:rPr>
              <a:t>LLMs Powered Voice-Controlled Humanoid Robot</a:t>
            </a:r>
          </a:p>
          <a:p>
            <a:pPr algn="l"/>
            <a:r>
              <a:rPr lang="en-US" altLang="zh-CN" sz="1800" b="1" i="0" u="none" strike="noStrike" baseline="0" dirty="0">
                <a:solidFill>
                  <a:srgbClr val="2B2B2B"/>
                </a:solidFill>
                <a:latin typeface="SourceSerifPro-Bold-Identity-H"/>
              </a:rPr>
              <a:t>Mar – Jun 2025 </a:t>
            </a:r>
            <a:r>
              <a:rPr lang="en-US" altLang="zh-CN" sz="1200" b="0" i="0" u="none" strike="noStrike" baseline="0" dirty="0">
                <a:solidFill>
                  <a:srgbClr val="6A6A6A"/>
                </a:solidFill>
                <a:latin typeface="SourceSansPro-Regular-Identity-H"/>
              </a:rPr>
              <a:t>at Unitree Robotics | Hangzhou, China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FBD4F2-5330-00BD-EC58-7198D9820AC4}"/>
              </a:ext>
            </a:extLst>
          </p:cNvPr>
          <p:cNvSpPr txBox="1"/>
          <p:nvPr/>
        </p:nvSpPr>
        <p:spPr>
          <a:xfrm>
            <a:off x="4715865" y="1167498"/>
            <a:ext cx="6788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i="0" u="none" strike="noStrike" baseline="0" dirty="0">
                <a:solidFill>
                  <a:srgbClr val="333333"/>
                </a:solidFill>
                <a:latin typeface="SourceSerifPro-Bold-Identity-H"/>
              </a:rPr>
              <a:t>ROS2-Based Autonomous Wheeled Robot with Vision &amp;  Navigation</a:t>
            </a:r>
          </a:p>
          <a:p>
            <a:pPr algn="l"/>
            <a:r>
              <a:rPr lang="en-US" altLang="zh-CN" sz="1800" b="1" i="0" u="none" strike="noStrike" baseline="0" dirty="0">
                <a:solidFill>
                  <a:srgbClr val="2B2B2B"/>
                </a:solidFill>
                <a:latin typeface="SourceSerifPro-Bold-Identity-H"/>
              </a:rPr>
              <a:t>Aug 2024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5F8DBB-E8F5-A51F-405B-98995191D688}"/>
              </a:ext>
            </a:extLst>
          </p:cNvPr>
          <p:cNvSpPr txBox="1"/>
          <p:nvPr/>
        </p:nvSpPr>
        <p:spPr>
          <a:xfrm>
            <a:off x="4715865" y="1955909"/>
            <a:ext cx="6144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i="0" u="none" strike="noStrike" baseline="0" dirty="0">
                <a:solidFill>
                  <a:srgbClr val="333333"/>
                </a:solidFill>
                <a:latin typeface="SourceSerifPro-Bold-Identity-H"/>
              </a:rPr>
              <a:t>Deep Learning Networks from Scratch with PyTorch</a:t>
            </a:r>
          </a:p>
          <a:p>
            <a:pPr algn="l"/>
            <a:r>
              <a:rPr lang="en-US" altLang="zh-CN" sz="1800" b="1" i="0" u="none" strike="noStrike" baseline="0" dirty="0">
                <a:solidFill>
                  <a:srgbClr val="2B2B2B"/>
                </a:solidFill>
                <a:latin typeface="SourceSerifPro-Bold-Identity-H"/>
              </a:rPr>
              <a:t>Oct 2024–Jan 2025 </a:t>
            </a:r>
            <a:r>
              <a:rPr lang="en-US" altLang="zh-CN" sz="1200" b="0" i="0" u="none" strike="noStrike" baseline="0" dirty="0">
                <a:solidFill>
                  <a:srgbClr val="6A6A6A"/>
                </a:solidFill>
                <a:latin typeface="SourceSansPro-Regular-Identity-H"/>
              </a:rPr>
              <a:t>Personal Project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9A58FA1-27C2-2186-7EDF-F7285EC7069F}"/>
              </a:ext>
            </a:extLst>
          </p:cNvPr>
          <p:cNvSpPr txBox="1"/>
          <p:nvPr/>
        </p:nvSpPr>
        <p:spPr>
          <a:xfrm>
            <a:off x="5149900" y="3567987"/>
            <a:ext cx="61447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>
                <a:latin typeface="Inconsolata Medium" panose="00000509000000000000" pitchFamily="49" charset="0"/>
                <a:ea typeface="Inconsolata Medium" panose="00000509000000000000" pitchFamily="49" charset="0"/>
              </a:rPr>
              <a:t>Daily Motion Design &amp; Data Collection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Inconsolata Medium" panose="00000509000000000000" pitchFamily="49" charset="0"/>
              <a:ea typeface="Inconsolata Medium" panose="00000509000000000000" pitchFamily="49" charset="0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Inconsolata Medium" panose="00000509000000000000" pitchFamily="49" charset="0"/>
              </a:rPr>
              <a:t>Voice-to-Action Pipeline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Inconsolata Medium" panose="00000509000000000000" pitchFamily="49" charset="0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Inconsolata Medium" panose="00000509000000000000" pitchFamily="49" charset="0"/>
              </a:rPr>
              <a:t>Natural Language to Motion System for Unitree G1</a:t>
            </a:r>
            <a:endParaRPr lang="zh-CN" altLang="en-US" sz="1600" dirty="0">
              <a:latin typeface="Inconsolata Medium" panose="00000509000000000000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EBA1FD-6D28-0D32-069C-9BDCB24B6C54}"/>
              </a:ext>
            </a:extLst>
          </p:cNvPr>
          <p:cNvSpPr txBox="1"/>
          <p:nvPr/>
        </p:nvSpPr>
        <p:spPr>
          <a:xfrm>
            <a:off x="1111911" y="1025868"/>
            <a:ext cx="2099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u="none" strike="noStrike" baseline="0" dirty="0">
                <a:latin typeface="SourceSerifPro-Light-Identity-H"/>
              </a:rPr>
              <a:t>Zhexiong Wang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9CA3D49-F29B-CAD3-9B30-D0D79D44503C}"/>
              </a:ext>
            </a:extLst>
          </p:cNvPr>
          <p:cNvGrpSpPr/>
          <p:nvPr/>
        </p:nvGrpSpPr>
        <p:grpSpPr>
          <a:xfrm>
            <a:off x="605217" y="1863575"/>
            <a:ext cx="3732697" cy="369332"/>
            <a:chOff x="605217" y="1778060"/>
            <a:chExt cx="3732697" cy="369332"/>
          </a:xfrm>
        </p:grpSpPr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9980723A-0104-7DE5-429E-7B765875079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5217" y="1870407"/>
              <a:ext cx="276985" cy="276985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155C6D5-8ACB-890C-768A-F57FD9C9702E}"/>
                </a:ext>
              </a:extLst>
            </p:cNvPr>
            <p:cNvSpPr txBox="1"/>
            <p:nvPr/>
          </p:nvSpPr>
          <p:spPr>
            <a:xfrm>
              <a:off x="1185062" y="1778060"/>
              <a:ext cx="3152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Inconsolata" panose="00000509000000000000" pitchFamily="49" charset="0"/>
                  <a:ea typeface="Inconsolata" panose="00000509000000000000" pitchFamily="49" charset="0"/>
                </a:rPr>
                <a:t>frankgraen@gmail.com</a:t>
              </a:r>
              <a:endParaRPr lang="zh-CN" altLang="en-US" sz="2400" dirty="0">
                <a:latin typeface="Inconsolata" panose="00000509000000000000" pitchFamily="49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8E0CF65-6FE5-63F7-C891-94494984CF9F}"/>
              </a:ext>
            </a:extLst>
          </p:cNvPr>
          <p:cNvGrpSpPr/>
          <p:nvPr/>
        </p:nvGrpSpPr>
        <p:grpSpPr>
          <a:xfrm>
            <a:off x="605217" y="2648349"/>
            <a:ext cx="3732697" cy="369332"/>
            <a:chOff x="605217" y="2648349"/>
            <a:chExt cx="3732697" cy="369332"/>
          </a:xfrm>
        </p:grpSpPr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21C74ADC-48BA-D6A2-BA2F-9764551160D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5217" y="2694523"/>
              <a:ext cx="276985" cy="276985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B7B7CEC-456E-381F-07D2-FD1429ED71B5}"/>
                </a:ext>
              </a:extLst>
            </p:cNvPr>
            <p:cNvSpPr txBox="1"/>
            <p:nvPr/>
          </p:nvSpPr>
          <p:spPr>
            <a:xfrm>
              <a:off x="1185062" y="2648349"/>
              <a:ext cx="3152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Inconsolata" panose="00000509000000000000" pitchFamily="49" charset="0"/>
                </a:rPr>
                <a:t>+86 13259882218</a:t>
              </a:r>
              <a:endParaRPr lang="zh-CN" altLang="en-US" dirty="0">
                <a:latin typeface="Inconsolata" panose="00000509000000000000" pitchFamily="49" charset="0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FDFD0AD-2722-68C9-B77D-ED6338495F20}"/>
              </a:ext>
            </a:extLst>
          </p:cNvPr>
          <p:cNvGrpSpPr/>
          <p:nvPr/>
        </p:nvGrpSpPr>
        <p:grpSpPr>
          <a:xfrm>
            <a:off x="605217" y="3427171"/>
            <a:ext cx="3732697" cy="646331"/>
            <a:chOff x="605217" y="3427171"/>
            <a:chExt cx="3732697" cy="646331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7EBBF02-995A-3EB7-FE55-7CAF8989B89A}"/>
                </a:ext>
              </a:extLst>
            </p:cNvPr>
            <p:cNvSpPr txBox="1"/>
            <p:nvPr/>
          </p:nvSpPr>
          <p:spPr>
            <a:xfrm>
              <a:off x="1185062" y="3427171"/>
              <a:ext cx="31528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Inconsolata" panose="00000509000000000000" pitchFamily="49" charset="0"/>
                </a:rPr>
                <a:t>https://github.com/FrankGraen/DWAM_low.git</a:t>
              </a:r>
              <a:endParaRPr lang="zh-CN" altLang="en-US" dirty="0">
                <a:latin typeface="Inconsolata" panose="00000509000000000000" pitchFamily="49" charset="0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980A1BD9-3E9F-E486-4E0D-7715F239C26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5217" y="3511787"/>
              <a:ext cx="276985" cy="276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971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0523-171D-4CE2-8D7E-A7C7C648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467251-C0CC-D971-CA77-EAB50D30D8D0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3814B4-4238-05D0-4FCA-04DEEF1F94BD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2 Task Description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419C1B-E5E1-5E91-F859-843BF8925F44}"/>
              </a:ext>
            </a:extLst>
          </p:cNvPr>
          <p:cNvSpPr txBox="1"/>
          <p:nvPr/>
        </p:nvSpPr>
        <p:spPr>
          <a:xfrm>
            <a:off x="226770" y="899770"/>
            <a:ext cx="5869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Inconsolata" panose="00000509000000000000" pitchFamily="49" charset="0"/>
                <a:ea typeface="Inconsolata" panose="00000509000000000000" pitchFamily="49" charset="0"/>
              </a:rPr>
              <a:t>Target_1 : reach box</a:t>
            </a:r>
          </a:p>
          <a:p>
            <a:endParaRPr lang="en-US" altLang="zh-CN" sz="2400" dirty="0">
              <a:latin typeface="Inconsolata" panose="00000509000000000000" pitchFamily="49" charset="0"/>
              <a:ea typeface="Inconsolata" panose="00000509000000000000" pitchFamily="49" charset="0"/>
            </a:endParaRPr>
          </a:p>
          <a:p>
            <a:r>
              <a:rPr lang="en-US" altLang="zh-CN" sz="2400" dirty="0">
                <a:latin typeface="Inconsolata" panose="00000509000000000000" pitchFamily="49" charset="0"/>
                <a:ea typeface="Inconsolata" panose="00000509000000000000" pitchFamily="49" charset="0"/>
              </a:rPr>
              <a:t>Target_2 : tracking until completion</a:t>
            </a:r>
            <a:endParaRPr lang="zh-CN" altLang="en-US" sz="2400" dirty="0">
              <a:latin typeface="Inconsolata" panose="00000509000000000000" pitchFamily="49" charset="0"/>
            </a:endParaRPr>
          </a:p>
        </p:txBody>
      </p:sp>
      <p:pic>
        <p:nvPicPr>
          <p:cNvPr id="6" name="图片 5" descr="电脑萤幕画面&#10;&#10;AI 生成的内容可能不正确。">
            <a:extLst>
              <a:ext uri="{FF2B5EF4-FFF2-40B4-BE49-F238E27FC236}">
                <a16:creationId xmlns:a16="http://schemas.microsoft.com/office/drawing/2014/main" id="{7A281EB7-B1A6-3776-4DBC-1AE5B7E7B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0" t="22460" r="33820" b="23564"/>
          <a:stretch>
            <a:fillRect/>
          </a:stretch>
        </p:blipFill>
        <p:spPr>
          <a:xfrm>
            <a:off x="742817" y="2379075"/>
            <a:ext cx="5595955" cy="3858131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B02A8624-414B-1769-BB18-453F30ABF5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9577" y="740641"/>
            <a:ext cx="521791" cy="52179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5D604A91-E97A-2984-4A87-AA5DE99E628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3226" y="1349613"/>
            <a:ext cx="485546" cy="485546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FD0C66E-0916-928C-F81A-22D4F4A091B3}"/>
              </a:ext>
            </a:extLst>
          </p:cNvPr>
          <p:cNvCxnSpPr/>
          <p:nvPr/>
        </p:nvCxnSpPr>
        <p:spPr>
          <a:xfrm>
            <a:off x="2004365" y="3429000"/>
            <a:ext cx="321869" cy="1099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A38C909-0AA3-DC08-0C2C-2CE8EC453C58}"/>
              </a:ext>
            </a:extLst>
          </p:cNvPr>
          <p:cNvSpPr txBox="1"/>
          <p:nvPr/>
        </p:nvSpPr>
        <p:spPr>
          <a:xfrm>
            <a:off x="1711757" y="3094330"/>
            <a:ext cx="61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Inconsolata Medium" panose="00000509000000000000" pitchFamily="49" charset="0"/>
                <a:ea typeface="Inconsolata Medium" panose="00000509000000000000" pitchFamily="49" charset="0"/>
              </a:rPr>
              <a:t>box</a:t>
            </a:r>
            <a:endParaRPr lang="zh-CN" altLang="en-US" dirty="0">
              <a:latin typeface="Inconsolata Medium" panose="00000509000000000000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9AA3B49-2115-131C-65E9-093671A2A715}"/>
              </a:ext>
            </a:extLst>
          </p:cNvPr>
          <p:cNvSpPr txBox="1"/>
          <p:nvPr/>
        </p:nvSpPr>
        <p:spPr>
          <a:xfrm>
            <a:off x="1711757" y="5441290"/>
            <a:ext cx="61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Inconsolata Medium" panose="00000509000000000000" pitchFamily="49" charset="0"/>
                <a:ea typeface="Inconsolata Medium" panose="00000509000000000000" pitchFamily="49" charset="0"/>
              </a:rPr>
              <a:t>rbt</a:t>
            </a:r>
            <a:endParaRPr lang="zh-CN" altLang="en-US" dirty="0">
              <a:latin typeface="Inconsolata Medium" panose="00000509000000000000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47C814-D597-FA4A-4C13-58D196B6AB80}"/>
              </a:ext>
            </a:extLst>
          </p:cNvPr>
          <p:cNvSpPr txBox="1"/>
          <p:nvPr/>
        </p:nvSpPr>
        <p:spPr>
          <a:xfrm>
            <a:off x="3319577" y="5331563"/>
            <a:ext cx="1371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Inconsolata Medium" panose="00000509000000000000" pitchFamily="49" charset="0"/>
                <a:ea typeface="Inconsolata Medium" panose="00000509000000000000" pitchFamily="49" charset="0"/>
              </a:rPr>
              <a:t>trajectory</a:t>
            </a:r>
            <a:endParaRPr lang="zh-CN" altLang="en-US" dirty="0">
              <a:latin typeface="Inconsolata Medium" panose="00000509000000000000" pitchFamily="49" charset="0"/>
            </a:endParaRP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DDFD7046-96A0-F152-2A24-D8C07ECD415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35023" y="1001536"/>
            <a:ext cx="376582" cy="37658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F869047-797F-6537-DDAC-30820EA135DE}"/>
              </a:ext>
            </a:extLst>
          </p:cNvPr>
          <p:cNvSpPr txBox="1"/>
          <p:nvPr/>
        </p:nvSpPr>
        <p:spPr>
          <a:xfrm>
            <a:off x="7603997" y="995670"/>
            <a:ext cx="4118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Inconsolata" panose="00000509000000000000" pitchFamily="49" charset="0"/>
                <a:ea typeface="Inconsolata" panose="00000509000000000000" pitchFamily="49" charset="0"/>
              </a:rPr>
              <a:t>Push the </a:t>
            </a:r>
            <a:r>
              <a:rPr lang="en-US" altLang="zh-CN" sz="2000" b="1" u="sng" dirty="0">
                <a:latin typeface="Inconsolata" panose="00000509000000000000" pitchFamily="49" charset="0"/>
                <a:ea typeface="Inconsolata" panose="00000509000000000000" pitchFamily="49" charset="0"/>
              </a:rPr>
              <a:t>box</a:t>
            </a:r>
            <a:r>
              <a:rPr lang="en-US" altLang="zh-CN" sz="2000" dirty="0">
                <a:latin typeface="Inconsolata" panose="00000509000000000000" pitchFamily="49" charset="0"/>
                <a:ea typeface="Inconsolata" panose="00000509000000000000" pitchFamily="49" charset="0"/>
              </a:rPr>
              <a:t> tracking the current trajectory</a:t>
            </a:r>
            <a:endParaRPr lang="zh-CN" altLang="en-US" sz="2000" dirty="0">
              <a:latin typeface="Inconsolata" panose="00000509000000000000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3D29DA-D8F0-2DB6-09AA-D63670C4CE11}"/>
              </a:ext>
            </a:extLst>
          </p:cNvPr>
          <p:cNvSpPr txBox="1"/>
          <p:nvPr/>
        </p:nvSpPr>
        <p:spPr>
          <a:xfrm>
            <a:off x="6734863" y="2379075"/>
            <a:ext cx="5185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Inconsolata" panose="00000509000000000000" pitchFamily="49" charset="0"/>
                <a:ea typeface="Inconsolata" panose="00000509000000000000" pitchFamily="49" charset="0"/>
              </a:rPr>
              <a:t>trajectory </a:t>
            </a:r>
            <a:r>
              <a:rPr lang="en-US" altLang="zh-CN" sz="1800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: ((x</a:t>
            </a:r>
            <a:r>
              <a:rPr lang="en-US" altLang="zh-CN" sz="1800" baseline="-25000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1</a:t>
            </a:r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,y</a:t>
            </a:r>
            <a:r>
              <a:rPr lang="en-US" altLang="zh-CN" baseline="-25000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1</a:t>
            </a:r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),(x</a:t>
            </a:r>
            <a:r>
              <a:rPr lang="en-US" altLang="zh-CN" baseline="-25000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2</a:t>
            </a:r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,y</a:t>
            </a:r>
            <a:r>
              <a:rPr lang="en-US" altLang="zh-CN" baseline="-25000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2</a:t>
            </a:r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), … ,(</a:t>
            </a:r>
            <a:r>
              <a:rPr lang="en-US" altLang="zh-CN" dirty="0" err="1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x</a:t>
            </a:r>
            <a:r>
              <a:rPr lang="en-US" altLang="zh-CN" baseline="-25000" dirty="0" err="1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N</a:t>
            </a:r>
            <a:r>
              <a:rPr lang="en-US" altLang="zh-CN" dirty="0" err="1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,y</a:t>
            </a:r>
            <a:r>
              <a:rPr lang="en-US" altLang="zh-CN" baseline="-25000" dirty="0" err="1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N</a:t>
            </a:r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  <a:sym typeface="Wingdings" panose="05000000000000000000" pitchFamily="2" charset="2"/>
              </a:rPr>
              <a:t>)) 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7F4D1DF-B8B1-1F3E-7FB6-95BC267D3D16}"/>
              </a:ext>
            </a:extLst>
          </p:cNvPr>
          <p:cNvSpPr txBox="1"/>
          <p:nvPr/>
        </p:nvSpPr>
        <p:spPr>
          <a:xfrm>
            <a:off x="6734863" y="2767067"/>
            <a:ext cx="5185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set </a:t>
            </a:r>
            <a:r>
              <a:rPr lang="en-US" altLang="zh-CN" b="1" dirty="0">
                <a:latin typeface="Inconsolata" panose="00000509000000000000" pitchFamily="49" charset="0"/>
                <a:ea typeface="Inconsolata" panose="00000509000000000000" pitchFamily="49" charset="0"/>
              </a:rPr>
              <a:t>N = 100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24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ECED-CD21-4BA0-4DF0-25832AA5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A64407B-5DA3-E3F0-449D-7C7E53E4590B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160401-C873-722E-6955-9DDDF671388F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2 Task Description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4681035-DDA0-2023-99AF-D3540165093C}"/>
              </a:ext>
            </a:extLst>
          </p:cNvPr>
          <p:cNvSpPr/>
          <p:nvPr/>
        </p:nvSpPr>
        <p:spPr>
          <a:xfrm>
            <a:off x="5270479" y="1279438"/>
            <a:ext cx="3101645" cy="1308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Policy</a:t>
            </a:r>
            <a:r>
              <a:rPr lang="en-US" altLang="zh-CN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 model (MLP)</a:t>
            </a:r>
            <a:endParaRPr lang="zh-CN" altLang="en-US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ADEDE38-21EF-2ADA-CA10-9BD552780F8B}"/>
              </a:ext>
            </a:extLst>
          </p:cNvPr>
          <p:cNvSpPr/>
          <p:nvPr/>
        </p:nvSpPr>
        <p:spPr>
          <a:xfrm>
            <a:off x="9297619" y="1714934"/>
            <a:ext cx="1439876" cy="4370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Action</a:t>
            </a:r>
            <a:endParaRPr lang="zh-CN" altLang="en-US" b="1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988B8EA-78A9-9F00-9207-E13F3D28F653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8372124" y="1933475"/>
            <a:ext cx="9254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C227DAF-BFE6-DFB1-F531-2F8250B1A5B3}"/>
              </a:ext>
            </a:extLst>
          </p:cNvPr>
          <p:cNvGrpSpPr/>
          <p:nvPr/>
        </p:nvGrpSpPr>
        <p:grpSpPr>
          <a:xfrm>
            <a:off x="306338" y="573174"/>
            <a:ext cx="3938017" cy="2339219"/>
            <a:chOff x="141425" y="469632"/>
            <a:chExt cx="3938017" cy="233921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8705B7F-1725-1691-4C58-1CC926726D85}"/>
                </a:ext>
              </a:extLst>
            </p:cNvPr>
            <p:cNvSpPr/>
            <p:nvPr/>
          </p:nvSpPr>
          <p:spPr>
            <a:xfrm>
              <a:off x="141426" y="842476"/>
              <a:ext cx="3938016" cy="45623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fov_box_observation (dis, ang)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0BBA00D2-E8D3-02C6-A4D9-4D3871E9A3B9}"/>
                </a:ext>
              </a:extLst>
            </p:cNvPr>
            <p:cNvSpPr/>
            <p:nvPr/>
          </p:nvSpPr>
          <p:spPr>
            <a:xfrm>
              <a:off x="141425" y="1435759"/>
              <a:ext cx="3938017" cy="5247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goal_observation (x_local,y_local)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D9AEDD78-2EB7-9D85-43ED-64473C4DC7D8}"/>
                </a:ext>
              </a:extLst>
            </p:cNvPr>
            <p:cNvSpPr/>
            <p:nvPr/>
          </p:nvSpPr>
          <p:spPr>
            <a:xfrm>
              <a:off x="141425" y="2064019"/>
              <a:ext cx="3938017" cy="7448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trajectory_observation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(x_local,y_local,…)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D5BC562-AF7F-06EF-4E4D-0C11422C5C18}"/>
                </a:ext>
              </a:extLst>
            </p:cNvPr>
            <p:cNvSpPr txBox="1"/>
            <p:nvPr/>
          </p:nvSpPr>
          <p:spPr>
            <a:xfrm>
              <a:off x="1329821" y="469632"/>
              <a:ext cx="1561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Observation</a:t>
              </a:r>
              <a:endParaRPr lang="zh-CN" altLang="en-US" b="1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3778BD71-30C1-417F-6F9A-0388C1CA9C73}"/>
              </a:ext>
            </a:extLst>
          </p:cNvPr>
          <p:cNvSpPr txBox="1"/>
          <p:nvPr/>
        </p:nvSpPr>
        <p:spPr>
          <a:xfrm>
            <a:off x="5408657" y="3354393"/>
            <a:ext cx="986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</a:rPr>
              <a:t>reward</a:t>
            </a:r>
            <a:endParaRPr lang="zh-CN" altLang="en-US" dirty="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35F31255-4158-3BE1-4128-0A6F886C3E89}"/>
              </a:ext>
            </a:extLst>
          </p:cNvPr>
          <p:cNvSpPr/>
          <p:nvPr/>
        </p:nvSpPr>
        <p:spPr>
          <a:xfrm>
            <a:off x="4470760" y="1768146"/>
            <a:ext cx="573314" cy="342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34CC010-17CB-B1B5-3D04-1D9D40262184}"/>
              </a:ext>
            </a:extLst>
          </p:cNvPr>
          <p:cNvSpPr txBox="1"/>
          <p:nvPr/>
        </p:nvSpPr>
        <p:spPr>
          <a:xfrm>
            <a:off x="4314262" y="2127289"/>
            <a:ext cx="986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Inconsolata" panose="00000509000000000000" pitchFamily="49" charset="0"/>
              </a:rPr>
              <a:t>flatten</a:t>
            </a:r>
            <a:endParaRPr lang="zh-CN" altLang="en-US" sz="1600" dirty="0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179B039-FB17-E769-D25F-CA3F59EE1721}"/>
              </a:ext>
            </a:extLst>
          </p:cNvPr>
          <p:cNvGrpSpPr/>
          <p:nvPr/>
        </p:nvGrpSpPr>
        <p:grpSpPr>
          <a:xfrm>
            <a:off x="486328" y="3926469"/>
            <a:ext cx="11269022" cy="2767277"/>
            <a:chOff x="852087" y="3246157"/>
            <a:chExt cx="11269022" cy="2767277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94AFF68-D859-445C-C9F6-163F95EF0983}"/>
                </a:ext>
              </a:extLst>
            </p:cNvPr>
            <p:cNvSpPr/>
            <p:nvPr/>
          </p:nvSpPr>
          <p:spPr>
            <a:xfrm>
              <a:off x="852087" y="4189494"/>
              <a:ext cx="2846513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accent6"/>
                  </a:solidFill>
                  <a:latin typeface="Inconsolata" panose="00000509000000000000" pitchFamily="49" charset="0"/>
                </a:rPr>
                <a:t>robot_angle_to_box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0849768F-C77B-5137-82C0-578CAB16C4E2}"/>
                </a:ext>
              </a:extLst>
            </p:cNvPr>
            <p:cNvSpPr/>
            <p:nvPr/>
          </p:nvSpPr>
          <p:spPr>
            <a:xfrm>
              <a:off x="852088" y="3255035"/>
              <a:ext cx="2856710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distance_decrease_reward</a:t>
              </a:r>
              <a:endParaRPr lang="zh-CN" altLang="en-US" sz="1600" b="1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680106A9-8A6B-0138-6AC8-72AFEA48754D}"/>
                </a:ext>
              </a:extLst>
            </p:cNvPr>
            <p:cNvSpPr/>
            <p:nvPr/>
          </p:nvSpPr>
          <p:spPr>
            <a:xfrm>
              <a:off x="852088" y="4953928"/>
              <a:ext cx="2846513" cy="52471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reached_box_reward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C4C3D65F-DE57-9A90-A055-FE72553A264E}"/>
                </a:ext>
              </a:extLst>
            </p:cNvPr>
            <p:cNvSpPr/>
            <p:nvPr/>
          </p:nvSpPr>
          <p:spPr>
            <a:xfrm>
              <a:off x="3918157" y="3255035"/>
              <a:ext cx="2349731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oscillation_penalty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0B28563-259A-6079-9205-E0D34317C27D}"/>
                </a:ext>
              </a:extLst>
            </p:cNvPr>
            <p:cNvSpPr/>
            <p:nvPr/>
          </p:nvSpPr>
          <p:spPr>
            <a:xfrm>
              <a:off x="6461653" y="3255035"/>
              <a:ext cx="253485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out_of_bounds_penalty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2EC3F559-1BD2-F5CD-C821-C143A6B10575}"/>
                </a:ext>
              </a:extLst>
            </p:cNvPr>
            <p:cNvSpPr/>
            <p:nvPr/>
          </p:nvSpPr>
          <p:spPr>
            <a:xfrm>
              <a:off x="9205865" y="3246157"/>
              <a:ext cx="291524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fov_exploration_reward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A6D042D-5697-CB27-9B78-AE8F32C33D1C}"/>
                </a:ext>
              </a:extLst>
            </p:cNvPr>
            <p:cNvSpPr/>
            <p:nvPr/>
          </p:nvSpPr>
          <p:spPr>
            <a:xfrm>
              <a:off x="5025662" y="4176038"/>
              <a:ext cx="7095447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trajectory_distance_reward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DA8B9A7B-4223-6899-BCA6-EB32D62D08DA}"/>
                </a:ext>
              </a:extLst>
            </p:cNvPr>
            <p:cNvSpPr/>
            <p:nvPr/>
          </p:nvSpPr>
          <p:spPr>
            <a:xfrm>
              <a:off x="5025662" y="4941253"/>
              <a:ext cx="3789153" cy="52471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trajectory_progress_finish_reward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718E3A61-7250-6ABD-DB47-757A397F304E}"/>
                </a:ext>
              </a:extLst>
            </p:cNvPr>
            <p:cNvSpPr/>
            <p:nvPr/>
          </p:nvSpPr>
          <p:spPr>
            <a:xfrm>
              <a:off x="8920575" y="4941252"/>
              <a:ext cx="320053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slow_down_near_finish_reward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F45909B-0B64-F023-8FEE-B101F34D6393}"/>
                </a:ext>
              </a:extLst>
            </p:cNvPr>
            <p:cNvCxnSpPr>
              <a:cxnSpLocks/>
            </p:cNvCxnSpPr>
            <p:nvPr/>
          </p:nvCxnSpPr>
          <p:spPr>
            <a:xfrm>
              <a:off x="4337914" y="4048526"/>
              <a:ext cx="0" cy="15727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6A85C4B-9967-6D35-0DB8-48D3E9FF5B2A}"/>
                </a:ext>
              </a:extLst>
            </p:cNvPr>
            <p:cNvSpPr txBox="1"/>
            <p:nvPr/>
          </p:nvSpPr>
          <p:spPr>
            <a:xfrm>
              <a:off x="1324367" y="5621978"/>
              <a:ext cx="1901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Step1: reach box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73BA56A-6EAB-D528-3E95-C1F629CEEAF4}"/>
                </a:ext>
              </a:extLst>
            </p:cNvPr>
            <p:cNvSpPr txBox="1"/>
            <p:nvPr/>
          </p:nvSpPr>
          <p:spPr>
            <a:xfrm>
              <a:off x="6651604" y="5644102"/>
              <a:ext cx="384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Step2: push box tracking the trajectory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0402FF56-5FF3-B56D-7CDB-99A150DB1683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404233" cy="2143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3B1AF454-E60E-E85B-80BB-60E615E4DFE7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6376971" cy="2143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6" name="箭头: 圆角右 65">
            <a:extLst>
              <a:ext uri="{FF2B5EF4-FFF2-40B4-BE49-F238E27FC236}">
                <a16:creationId xmlns:a16="http://schemas.microsoft.com/office/drawing/2014/main" id="{354E12B5-CE99-462C-EFC2-D99EAAC4DAD6}"/>
              </a:ext>
            </a:extLst>
          </p:cNvPr>
          <p:cNvSpPr/>
          <p:nvPr/>
        </p:nvSpPr>
        <p:spPr>
          <a:xfrm flipH="1" flipV="1">
            <a:off x="6561734" y="2392515"/>
            <a:ext cx="3593348" cy="1278553"/>
          </a:xfrm>
          <a:prstGeom prst="bentArrow">
            <a:avLst>
              <a:gd name="adj1" fmla="val 14129"/>
              <a:gd name="adj2" fmla="val 13645"/>
              <a:gd name="adj3" fmla="val 29577"/>
              <a:gd name="adj4" fmla="val 4375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A398BF00-B06E-E575-42AE-EA0B450EC338}"/>
              </a:ext>
            </a:extLst>
          </p:cNvPr>
          <p:cNvSpPr/>
          <p:nvPr/>
        </p:nvSpPr>
        <p:spPr>
          <a:xfrm rot="16200000">
            <a:off x="5473801" y="2896724"/>
            <a:ext cx="573314" cy="342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0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7161-68E6-9D9E-FDA6-9E124454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B1BB4DE-44CF-4B06-802B-56498D2B74B2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F6633-0A3E-FA79-3130-0757B9AF990E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3 Difficulties Faced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9220397-04C4-4CD2-0C72-8FA266069297}"/>
              </a:ext>
            </a:extLst>
          </p:cNvPr>
          <p:cNvGrpSpPr/>
          <p:nvPr/>
        </p:nvGrpSpPr>
        <p:grpSpPr>
          <a:xfrm>
            <a:off x="694944" y="721271"/>
            <a:ext cx="10369296" cy="4446039"/>
            <a:chOff x="658368" y="911466"/>
            <a:chExt cx="10369296" cy="444603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46D5B4E6-10E7-B8C4-B9BC-84827F27F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807" y="911466"/>
              <a:ext cx="10277857" cy="4446039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3D2D3C3-D869-CEC2-73FE-6D6DD1481266}"/>
                </a:ext>
              </a:extLst>
            </p:cNvPr>
            <p:cNvSpPr/>
            <p:nvPr/>
          </p:nvSpPr>
          <p:spPr>
            <a:xfrm>
              <a:off x="658368" y="1038758"/>
              <a:ext cx="3474720" cy="207020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7159651-90D9-7440-9A47-A541004549F0}"/>
                </a:ext>
              </a:extLst>
            </p:cNvPr>
            <p:cNvSpPr/>
            <p:nvPr/>
          </p:nvSpPr>
          <p:spPr>
            <a:xfrm>
              <a:off x="4133088" y="3236252"/>
              <a:ext cx="3474720" cy="207020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B688FE9-13C1-CAB1-FA91-6187B97A34E1}"/>
              </a:ext>
            </a:extLst>
          </p:cNvPr>
          <p:cNvSpPr txBox="1"/>
          <p:nvPr/>
        </p:nvSpPr>
        <p:spPr>
          <a:xfrm>
            <a:off x="694944" y="5547772"/>
            <a:ext cx="5869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reach box</a:t>
            </a:r>
          </a:p>
          <a:p>
            <a:endParaRPr lang="en-US" altLang="zh-CN" dirty="0">
              <a:latin typeface="Inconsolata" panose="00000509000000000000" pitchFamily="49" charset="0"/>
              <a:ea typeface="Inconsolata" panose="00000509000000000000" pitchFamily="49" charset="0"/>
            </a:endParaRPr>
          </a:p>
          <a:p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tracking until completion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EF82C34D-1458-1704-8D9D-03B4F874D0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9690" y="5547772"/>
            <a:ext cx="298534" cy="298534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760D0E25-BCB8-34E8-3042-2A8FDCB913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4503" y="6137962"/>
            <a:ext cx="277797" cy="27779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0FF87F7-2D77-D0DA-0CB2-467ADA537D04}"/>
              </a:ext>
            </a:extLst>
          </p:cNvPr>
          <p:cNvSpPr txBox="1"/>
          <p:nvPr/>
        </p:nvSpPr>
        <p:spPr>
          <a:xfrm>
            <a:off x="2867558" y="5572834"/>
            <a:ext cx="3642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Inconsolata" panose="00000509000000000000" pitchFamily="49" charset="0"/>
                <a:ea typeface="Inconsolata" panose="00000509000000000000" pitchFamily="49" charset="0"/>
              </a:rPr>
              <a:t>(perform not well like before)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18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27AF-6137-CAEA-A53F-6A3CC24E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212C5DD-95FE-73D8-8716-BF339EB5FA0C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95A1AA-49E1-B947-5CDF-79B8ABC6A230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3 Difficulties Faced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6CD2E50-C6F7-7DFE-73E4-5C005B1AF0D8}"/>
              </a:ext>
            </a:extLst>
          </p:cNvPr>
          <p:cNvSpPr/>
          <p:nvPr/>
        </p:nvSpPr>
        <p:spPr>
          <a:xfrm>
            <a:off x="5270479" y="1279438"/>
            <a:ext cx="3101645" cy="13080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Policy</a:t>
            </a:r>
            <a:r>
              <a:rPr lang="en-US" altLang="zh-CN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 model (MLP)</a:t>
            </a:r>
            <a:endParaRPr lang="zh-CN" altLang="en-US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BF311D0-F4F8-E759-E31D-96C2354B7B3F}"/>
              </a:ext>
            </a:extLst>
          </p:cNvPr>
          <p:cNvSpPr/>
          <p:nvPr/>
        </p:nvSpPr>
        <p:spPr>
          <a:xfrm>
            <a:off x="9297619" y="1714934"/>
            <a:ext cx="1439876" cy="4370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Action</a:t>
            </a:r>
            <a:endParaRPr lang="zh-CN" altLang="en-US" b="1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0662BD4-9256-D6BD-60F7-4861E5EDDC2C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8372124" y="1933475"/>
            <a:ext cx="9254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2D06332-178B-6B03-C396-828ACA36C42C}"/>
              </a:ext>
            </a:extLst>
          </p:cNvPr>
          <p:cNvGrpSpPr/>
          <p:nvPr/>
        </p:nvGrpSpPr>
        <p:grpSpPr>
          <a:xfrm>
            <a:off x="306338" y="573174"/>
            <a:ext cx="3938017" cy="2339219"/>
            <a:chOff x="141425" y="469632"/>
            <a:chExt cx="3938017" cy="233921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764FC6A-489C-4C15-8812-3AB04FAE1537}"/>
                </a:ext>
              </a:extLst>
            </p:cNvPr>
            <p:cNvSpPr/>
            <p:nvPr/>
          </p:nvSpPr>
          <p:spPr>
            <a:xfrm>
              <a:off x="141426" y="842476"/>
              <a:ext cx="3938016" cy="45623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fov_box_observation (dis, ang)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4DB9318-AEEB-EA80-86A5-F8D9C0EA7C18}"/>
                </a:ext>
              </a:extLst>
            </p:cNvPr>
            <p:cNvSpPr/>
            <p:nvPr/>
          </p:nvSpPr>
          <p:spPr>
            <a:xfrm>
              <a:off x="141425" y="1435759"/>
              <a:ext cx="3938017" cy="5247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goal_observation (x_local,y_local)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9690AD3-52DD-3B11-0C35-C832C8DE4FD4}"/>
                </a:ext>
              </a:extLst>
            </p:cNvPr>
            <p:cNvSpPr/>
            <p:nvPr/>
          </p:nvSpPr>
          <p:spPr>
            <a:xfrm>
              <a:off x="141425" y="2064019"/>
              <a:ext cx="3938017" cy="7448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trajectory_observation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(x_local,y_local,…)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08BE1C3-9024-13DD-213F-26008920E34B}"/>
                </a:ext>
              </a:extLst>
            </p:cNvPr>
            <p:cNvSpPr txBox="1"/>
            <p:nvPr/>
          </p:nvSpPr>
          <p:spPr>
            <a:xfrm>
              <a:off x="1329821" y="469632"/>
              <a:ext cx="1561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Observation</a:t>
              </a:r>
              <a:endParaRPr lang="zh-CN" altLang="en-US" b="1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38833846-3F55-1B3C-1C62-FD69BC2F247F}"/>
              </a:ext>
            </a:extLst>
          </p:cNvPr>
          <p:cNvSpPr txBox="1"/>
          <p:nvPr/>
        </p:nvSpPr>
        <p:spPr>
          <a:xfrm>
            <a:off x="5408657" y="3354393"/>
            <a:ext cx="9869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</a:rPr>
              <a:t>reward</a:t>
            </a:r>
            <a:endParaRPr lang="zh-CN" altLang="en-US" dirty="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E2E7BEBA-F6E8-C772-AC81-C0ADD53E87AB}"/>
              </a:ext>
            </a:extLst>
          </p:cNvPr>
          <p:cNvSpPr/>
          <p:nvPr/>
        </p:nvSpPr>
        <p:spPr>
          <a:xfrm>
            <a:off x="4470760" y="1768146"/>
            <a:ext cx="573314" cy="34202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038D669-669D-180F-347D-506F308065E3}"/>
              </a:ext>
            </a:extLst>
          </p:cNvPr>
          <p:cNvSpPr txBox="1"/>
          <p:nvPr/>
        </p:nvSpPr>
        <p:spPr>
          <a:xfrm>
            <a:off x="4314262" y="2127289"/>
            <a:ext cx="95621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Inconsolata" panose="00000509000000000000" pitchFamily="49" charset="0"/>
              </a:rPr>
              <a:t>flatten</a:t>
            </a:r>
            <a:endParaRPr lang="zh-CN" altLang="en-US" sz="1600" dirty="0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F6F5CA7-0943-F083-A70B-E0FC0EAD0682}"/>
              </a:ext>
            </a:extLst>
          </p:cNvPr>
          <p:cNvGrpSpPr/>
          <p:nvPr/>
        </p:nvGrpSpPr>
        <p:grpSpPr>
          <a:xfrm>
            <a:off x="486328" y="3926469"/>
            <a:ext cx="11269022" cy="2767277"/>
            <a:chOff x="852087" y="3246157"/>
            <a:chExt cx="11269022" cy="2767277"/>
          </a:xfrm>
          <a:solidFill>
            <a:schemeClr val="bg1"/>
          </a:solidFill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73C6F19E-FD61-C7D7-FB9A-58C86781BB8B}"/>
                </a:ext>
              </a:extLst>
            </p:cNvPr>
            <p:cNvSpPr/>
            <p:nvPr/>
          </p:nvSpPr>
          <p:spPr>
            <a:xfrm>
              <a:off x="852087" y="4189494"/>
              <a:ext cx="2846513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accent6"/>
                  </a:solidFill>
                  <a:latin typeface="Inconsolata" panose="00000509000000000000" pitchFamily="49" charset="0"/>
                </a:rPr>
                <a:t>robot_angle_to_box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15F5349-AF59-E87F-76E0-C881354515AA}"/>
                </a:ext>
              </a:extLst>
            </p:cNvPr>
            <p:cNvSpPr/>
            <p:nvPr/>
          </p:nvSpPr>
          <p:spPr>
            <a:xfrm>
              <a:off x="852088" y="3255035"/>
              <a:ext cx="2856710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distance_decrease_reward</a:t>
              </a:r>
              <a:endParaRPr lang="zh-CN" altLang="en-US" sz="1600" b="1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4DCA16FB-4A9E-FF68-5142-0216661ED94E}"/>
                </a:ext>
              </a:extLst>
            </p:cNvPr>
            <p:cNvSpPr/>
            <p:nvPr/>
          </p:nvSpPr>
          <p:spPr>
            <a:xfrm>
              <a:off x="852088" y="4953928"/>
              <a:ext cx="2846513" cy="524715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reached_box_reward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0B88A47-0E7E-772E-377A-0B641BD138DC}"/>
                </a:ext>
              </a:extLst>
            </p:cNvPr>
            <p:cNvSpPr/>
            <p:nvPr/>
          </p:nvSpPr>
          <p:spPr>
            <a:xfrm>
              <a:off x="3918157" y="3255035"/>
              <a:ext cx="2349731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oscillation_penalty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A8545F4-24E3-294C-ADC9-45C0C3339D56}"/>
                </a:ext>
              </a:extLst>
            </p:cNvPr>
            <p:cNvSpPr/>
            <p:nvPr/>
          </p:nvSpPr>
          <p:spPr>
            <a:xfrm>
              <a:off x="6461653" y="3255035"/>
              <a:ext cx="2534852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out_of_bounds_penalty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76611FB5-B593-8D35-09B2-1E871CF89CBF}"/>
                </a:ext>
              </a:extLst>
            </p:cNvPr>
            <p:cNvSpPr/>
            <p:nvPr/>
          </p:nvSpPr>
          <p:spPr>
            <a:xfrm>
              <a:off x="9205865" y="3246157"/>
              <a:ext cx="2915242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fov_exploration_reward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0C91E13B-4725-7D07-B2B5-E8744A7622DC}"/>
                </a:ext>
              </a:extLst>
            </p:cNvPr>
            <p:cNvSpPr/>
            <p:nvPr/>
          </p:nvSpPr>
          <p:spPr>
            <a:xfrm>
              <a:off x="5025662" y="4176038"/>
              <a:ext cx="7095447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trajectory_distance_reward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E0BF66B-0BD0-794D-2AE3-14E88AEB1F22}"/>
                </a:ext>
              </a:extLst>
            </p:cNvPr>
            <p:cNvSpPr/>
            <p:nvPr/>
          </p:nvSpPr>
          <p:spPr>
            <a:xfrm>
              <a:off x="5025662" y="4941253"/>
              <a:ext cx="3789153" cy="524715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trajectory_progress_finish_reward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0B4C6602-24AB-B83A-6BF6-A6AC25ADBDE4}"/>
                </a:ext>
              </a:extLst>
            </p:cNvPr>
            <p:cNvSpPr/>
            <p:nvPr/>
          </p:nvSpPr>
          <p:spPr>
            <a:xfrm>
              <a:off x="8920575" y="4941252"/>
              <a:ext cx="3200532" cy="524715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slow_down_near_finish_reward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9A9ECAB2-7732-0724-9AF1-9BC2842D5A6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914" y="4048526"/>
              <a:ext cx="0" cy="1572768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78EF1714-8CB9-7DD6-B79B-37501FF77DFC}"/>
                </a:ext>
              </a:extLst>
            </p:cNvPr>
            <p:cNvSpPr txBox="1"/>
            <p:nvPr/>
          </p:nvSpPr>
          <p:spPr>
            <a:xfrm>
              <a:off x="1324367" y="5621978"/>
              <a:ext cx="190195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Step1: reach box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2AEB884-DB32-5A0D-EE9A-24D16A7BCA11}"/>
                </a:ext>
              </a:extLst>
            </p:cNvPr>
            <p:cNvSpPr txBox="1"/>
            <p:nvPr/>
          </p:nvSpPr>
          <p:spPr>
            <a:xfrm>
              <a:off x="6651604" y="5644102"/>
              <a:ext cx="384356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Step2: push box tracking the trajectory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B12D6E39-EB28-604C-2E5F-E31C63C9EA45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404233" cy="21434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B508C4AB-6C8C-8BAC-EE8C-7AC0F863B6DA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6376971" cy="21434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6" name="箭头: 圆角右 65">
            <a:extLst>
              <a:ext uri="{FF2B5EF4-FFF2-40B4-BE49-F238E27FC236}">
                <a16:creationId xmlns:a16="http://schemas.microsoft.com/office/drawing/2014/main" id="{932DE3D6-E4AB-A79E-1033-82F1C1992837}"/>
              </a:ext>
            </a:extLst>
          </p:cNvPr>
          <p:cNvSpPr/>
          <p:nvPr/>
        </p:nvSpPr>
        <p:spPr>
          <a:xfrm flipH="1" flipV="1">
            <a:off x="6561734" y="2392515"/>
            <a:ext cx="3593348" cy="1278553"/>
          </a:xfrm>
          <a:prstGeom prst="bentArrow">
            <a:avLst>
              <a:gd name="adj1" fmla="val 14129"/>
              <a:gd name="adj2" fmla="val 13645"/>
              <a:gd name="adj3" fmla="val 29577"/>
              <a:gd name="adj4" fmla="val 437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6620A684-C3F3-7B5C-D32A-F360E1868125}"/>
              </a:ext>
            </a:extLst>
          </p:cNvPr>
          <p:cNvSpPr/>
          <p:nvPr/>
        </p:nvSpPr>
        <p:spPr>
          <a:xfrm rot="16200000">
            <a:off x="5473801" y="2896724"/>
            <a:ext cx="573314" cy="34202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F07322-DA53-7503-BCBA-3A0FBA9C456E}"/>
              </a:ext>
            </a:extLst>
          </p:cNvPr>
          <p:cNvSpPr txBox="1"/>
          <p:nvPr/>
        </p:nvSpPr>
        <p:spPr>
          <a:xfrm>
            <a:off x="4168741" y="1230867"/>
            <a:ext cx="573314" cy="52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①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E19261-35BB-969A-DE7C-C0536E6EA900}"/>
              </a:ext>
            </a:extLst>
          </p:cNvPr>
          <p:cNvSpPr/>
          <p:nvPr/>
        </p:nvSpPr>
        <p:spPr>
          <a:xfrm>
            <a:off x="2237002" y="1634960"/>
            <a:ext cx="1755649" cy="349082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B1E182-E537-757B-AB7B-AD6CC93EB784}"/>
              </a:ext>
            </a:extLst>
          </p:cNvPr>
          <p:cNvSpPr txBox="1"/>
          <p:nvPr/>
        </p:nvSpPr>
        <p:spPr>
          <a:xfrm>
            <a:off x="4486122" y="2443985"/>
            <a:ext cx="573314" cy="52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②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884A9D-B717-8944-6DB1-EA823971DD33}"/>
              </a:ext>
            </a:extLst>
          </p:cNvPr>
          <p:cNvSpPr/>
          <p:nvPr/>
        </p:nvSpPr>
        <p:spPr>
          <a:xfrm>
            <a:off x="4322965" y="2167561"/>
            <a:ext cx="877608" cy="298282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3C2993-DD0E-E97A-C35E-4800394AA0CC}"/>
              </a:ext>
            </a:extLst>
          </p:cNvPr>
          <p:cNvSpPr txBox="1"/>
          <p:nvPr/>
        </p:nvSpPr>
        <p:spPr>
          <a:xfrm>
            <a:off x="6285845" y="2740906"/>
            <a:ext cx="573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③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9DBCDD-CBAD-EC1D-5E76-44E92ABA3EFD}"/>
              </a:ext>
            </a:extLst>
          </p:cNvPr>
          <p:cNvSpPr txBox="1"/>
          <p:nvPr/>
        </p:nvSpPr>
        <p:spPr>
          <a:xfrm>
            <a:off x="6721488" y="2828009"/>
            <a:ext cx="516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Scaling of Reward Function</a:t>
            </a:r>
            <a:r>
              <a:rPr lang="zh-CN" altLang="en-US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A6432D-502D-CB0C-AD57-4E81817DD128}"/>
              </a:ext>
            </a:extLst>
          </p:cNvPr>
          <p:cNvSpPr txBox="1"/>
          <p:nvPr/>
        </p:nvSpPr>
        <p:spPr>
          <a:xfrm>
            <a:off x="8004998" y="537318"/>
            <a:ext cx="573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④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07E20F-616B-AA24-6A8C-3ACB17ED89EB}"/>
              </a:ext>
            </a:extLst>
          </p:cNvPr>
          <p:cNvSpPr txBox="1"/>
          <p:nvPr/>
        </p:nvSpPr>
        <p:spPr>
          <a:xfrm>
            <a:off x="3439762" y="6377982"/>
            <a:ext cx="516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Add other reward?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9740A1-2551-5BBD-C713-4E323B2CCBC3}"/>
              </a:ext>
            </a:extLst>
          </p:cNvPr>
          <p:cNvSpPr txBox="1"/>
          <p:nvPr/>
        </p:nvSpPr>
        <p:spPr>
          <a:xfrm>
            <a:off x="3018168" y="6276049"/>
            <a:ext cx="499869" cy="52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⑤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494BFE-0AA5-2204-1762-AECE73E6E800}"/>
              </a:ext>
            </a:extLst>
          </p:cNvPr>
          <p:cNvSpPr txBox="1"/>
          <p:nvPr/>
        </p:nvSpPr>
        <p:spPr>
          <a:xfrm>
            <a:off x="8402847" y="627134"/>
            <a:ext cx="3789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Use the target-box distance instead of box-trajectory distance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37D1BA1-0E3B-1267-3E7F-372B848C358F}"/>
              </a:ext>
            </a:extLst>
          </p:cNvPr>
          <p:cNvSpPr/>
          <p:nvPr/>
        </p:nvSpPr>
        <p:spPr>
          <a:xfrm>
            <a:off x="6799167" y="4944166"/>
            <a:ext cx="2813006" cy="349082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15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EF95-BD6B-D26C-3091-17DFDA1D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ED80E25-01FC-046E-B77F-76BA812914EC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98855B-EB82-487A-67AE-75D5AC33521E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3 Difficulties Faced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184EBD-C19A-EAEF-E1A6-A6D538BCE2DC}"/>
              </a:ext>
            </a:extLst>
          </p:cNvPr>
          <p:cNvSpPr txBox="1"/>
          <p:nvPr/>
        </p:nvSpPr>
        <p:spPr>
          <a:xfrm>
            <a:off x="7668302" y="1710477"/>
            <a:ext cx="499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⑥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8A6697-71F8-3E8F-50E5-F3AE3B7EAF16}"/>
              </a:ext>
            </a:extLst>
          </p:cNvPr>
          <p:cNvSpPr txBox="1"/>
          <p:nvPr/>
        </p:nvSpPr>
        <p:spPr>
          <a:xfrm>
            <a:off x="8080389" y="1787421"/>
            <a:ext cx="378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Use the trajectory with (</a:t>
            </a:r>
            <a:r>
              <a:rPr lang="en-US" altLang="zh-CN" b="1" dirty="0" err="1">
                <a:solidFill>
                  <a:srgbClr val="7030A0"/>
                </a:solidFill>
              </a:rPr>
              <a:t>vel,t</a:t>
            </a:r>
            <a:r>
              <a:rPr lang="en-US" altLang="zh-CN" b="1" dirty="0">
                <a:solidFill>
                  <a:srgbClr val="7030A0"/>
                </a:solidFill>
              </a:rPr>
              <a:t>) ? 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856D470-0BE6-07C8-303F-3C25F4466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86" y="904809"/>
            <a:ext cx="6729234" cy="2190175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A9EAA9BD-C880-BC4D-4F18-3D209CCDC0AC}"/>
              </a:ext>
            </a:extLst>
          </p:cNvPr>
          <p:cNvSpPr txBox="1"/>
          <p:nvPr/>
        </p:nvSpPr>
        <p:spPr>
          <a:xfrm>
            <a:off x="383786" y="3227473"/>
            <a:ext cx="7284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 panose="00000509000000000000" pitchFamily="49" charset="0"/>
              </a:rPr>
              <a:t>· </a:t>
            </a:r>
            <a:r>
              <a:rPr lang="zh-CN" altLang="en-US" b="1" dirty="0">
                <a:latin typeface="Inconsolata" panose="00000509000000000000" pitchFamily="49" charset="0"/>
              </a:rPr>
              <a:t>Heading reward </a:t>
            </a:r>
            <a:r>
              <a:rPr lang="en-US" altLang="zh-CN" dirty="0">
                <a:latin typeface="Inconsolata" panose="00000509000000000000" pitchFamily="49" charset="0"/>
              </a:rPr>
              <a:t>corrects the heading of rbt with respect to the reference trajectory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7EC879A-CB85-CAC7-417D-BAE3ACC9A04E}"/>
              </a:ext>
            </a:extLst>
          </p:cNvPr>
          <p:cNvSpPr txBox="1"/>
          <p:nvPr/>
        </p:nvSpPr>
        <p:spPr>
          <a:xfrm>
            <a:off x="383786" y="4058470"/>
            <a:ext cx="7284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 panose="00000509000000000000" pitchFamily="49" charset="0"/>
              </a:rPr>
              <a:t>· Longitudinal reward </a:t>
            </a:r>
            <a:r>
              <a:rPr lang="en-US" altLang="zh-CN" dirty="0">
                <a:latin typeface="Inconsolata" panose="00000509000000000000" pitchFamily="49" charset="0"/>
              </a:rPr>
              <a:t>is used to motivate rbt to move forward along the reference trajectory</a:t>
            </a:r>
            <a:endParaRPr lang="zh-CN" altLang="en-US" dirty="0">
              <a:latin typeface="Inconsolata" panose="00000509000000000000" pitchFamily="49" charset="0"/>
            </a:endParaRP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8E44930E-1E6E-1597-1600-D1EE99A8E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60342"/>
              </p:ext>
            </p:extLst>
          </p:nvPr>
        </p:nvGraphicFramePr>
        <p:xfrm>
          <a:off x="5461000" y="3009900"/>
          <a:ext cx="9144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85760" progId="Equation.DSMT4">
                  <p:embed/>
                </p:oleObj>
              </mc:Choice>
              <mc:Fallback>
                <p:oleObj name="Equation" r:id="rId3" imgW="914400" imgH="18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1000" y="3009900"/>
                        <a:ext cx="914400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0FA6777-94CE-F87A-BC47-4145F6F304A5}"/>
                  </a:ext>
                </a:extLst>
              </p:cNvPr>
              <p:cNvSpPr txBox="1"/>
              <p:nvPr/>
            </p:nvSpPr>
            <p:spPr>
              <a:xfrm>
                <a:off x="1943466" y="4728598"/>
                <a:ext cx="3106199" cy="8467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0FA6777-94CE-F87A-BC47-4145F6F30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466" y="4728598"/>
                <a:ext cx="3106199" cy="8467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B8FDE95D-1928-5067-9CFC-A04EF3CD208C}"/>
              </a:ext>
            </a:extLst>
          </p:cNvPr>
          <p:cNvSpPr txBox="1"/>
          <p:nvPr/>
        </p:nvSpPr>
        <p:spPr>
          <a:xfrm>
            <a:off x="383786" y="5260797"/>
            <a:ext cx="4114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 panose="00000509000000000000" pitchFamily="49" charset="0"/>
                <a:cs typeface="Times New Roman" panose="02020603050405020304" pitchFamily="18" charset="0"/>
              </a:rPr>
              <a:t>· </a:t>
            </a:r>
            <a:r>
              <a:rPr lang="zh-CN" altLang="en-US" b="1" dirty="0">
                <a:latin typeface="Inconsolata" panose="00000509000000000000" pitchFamily="49" charset="0"/>
                <a:cs typeface="Times New Roman" panose="02020603050405020304" pitchFamily="18" charset="0"/>
              </a:rPr>
              <a:t>segmented linear reward function 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FC6F7079-2B7B-26EE-9484-2D15B7E63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99" y="5630129"/>
            <a:ext cx="8111771" cy="88430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A31AA72A-320C-3472-0D56-CD4ECC0702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3020" y="4381635"/>
            <a:ext cx="3734124" cy="983065"/>
          </a:xfrm>
          <a:prstGeom prst="rect">
            <a:avLst/>
          </a:prstGeom>
        </p:spPr>
      </p:pic>
      <p:sp>
        <p:nvSpPr>
          <p:cNvPr id="70" name="箭头: 右 69">
            <a:extLst>
              <a:ext uri="{FF2B5EF4-FFF2-40B4-BE49-F238E27FC236}">
                <a16:creationId xmlns:a16="http://schemas.microsoft.com/office/drawing/2014/main" id="{E4F154E8-53C5-C953-8F73-9CA729EF09A9}"/>
              </a:ext>
            </a:extLst>
          </p:cNvPr>
          <p:cNvSpPr/>
          <p:nvPr/>
        </p:nvSpPr>
        <p:spPr>
          <a:xfrm rot="20106946">
            <a:off x="5955384" y="5017021"/>
            <a:ext cx="1029442" cy="3944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19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7D07-1938-531D-DCFD-BB1926DC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FC6552D-092B-6914-2C55-D0BBE7AA8508}"/>
              </a:ext>
            </a:extLst>
          </p:cNvPr>
          <p:cNvSpPr/>
          <p:nvPr/>
        </p:nvSpPr>
        <p:spPr>
          <a:xfrm>
            <a:off x="0" y="449801"/>
            <a:ext cx="12192000" cy="170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9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C1423B-5218-8E26-F274-3A24C23DB5B2}"/>
              </a:ext>
            </a:extLst>
          </p:cNvPr>
          <p:cNvSpPr txBox="1"/>
          <p:nvPr/>
        </p:nvSpPr>
        <p:spPr>
          <a:xfrm>
            <a:off x="0" y="0"/>
            <a:ext cx="433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Inconsolata Medium" panose="00000509000000000000" pitchFamily="49" charset="0"/>
                <a:ea typeface="Inconsolata Medium" panose="00000509000000000000" pitchFamily="49" charset="0"/>
              </a:rPr>
              <a:t>2 Task Description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Inconsolata Medium" panose="00000509000000000000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9BD37D3-6F36-B7A2-D873-F72A7C0D4A14}"/>
              </a:ext>
            </a:extLst>
          </p:cNvPr>
          <p:cNvSpPr/>
          <p:nvPr/>
        </p:nvSpPr>
        <p:spPr>
          <a:xfrm>
            <a:off x="5270479" y="1279438"/>
            <a:ext cx="3101645" cy="1308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Policy</a:t>
            </a:r>
            <a:r>
              <a:rPr lang="en-US" altLang="zh-CN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 model (MLP)</a:t>
            </a:r>
            <a:endParaRPr lang="zh-CN" altLang="en-US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7A7FA3A-993E-EB83-0E75-74D1E9E8DCDA}"/>
              </a:ext>
            </a:extLst>
          </p:cNvPr>
          <p:cNvSpPr/>
          <p:nvPr/>
        </p:nvSpPr>
        <p:spPr>
          <a:xfrm>
            <a:off x="9297619" y="1714934"/>
            <a:ext cx="1439876" cy="4370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Action</a:t>
            </a:r>
            <a:endParaRPr lang="zh-CN" altLang="en-US" b="1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4446523-B4A4-143D-2A81-A714289ED101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8372124" y="1933475"/>
            <a:ext cx="9254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5330FEC-7E02-80AB-9F36-3486228D7EBE}"/>
              </a:ext>
            </a:extLst>
          </p:cNvPr>
          <p:cNvGrpSpPr/>
          <p:nvPr/>
        </p:nvGrpSpPr>
        <p:grpSpPr>
          <a:xfrm>
            <a:off x="306338" y="573174"/>
            <a:ext cx="3938017" cy="2339219"/>
            <a:chOff x="141425" y="469632"/>
            <a:chExt cx="3938017" cy="233921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B163AE3-B9CB-C12D-945F-945E405877D1}"/>
                </a:ext>
              </a:extLst>
            </p:cNvPr>
            <p:cNvSpPr/>
            <p:nvPr/>
          </p:nvSpPr>
          <p:spPr>
            <a:xfrm>
              <a:off x="141426" y="842476"/>
              <a:ext cx="3938016" cy="45623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fov_box_observation (dis, ang)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8A42006-A857-36B9-245C-AFFCE7D8E847}"/>
                </a:ext>
              </a:extLst>
            </p:cNvPr>
            <p:cNvSpPr/>
            <p:nvPr/>
          </p:nvSpPr>
          <p:spPr>
            <a:xfrm>
              <a:off x="141425" y="1435759"/>
              <a:ext cx="3938017" cy="5247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tx1"/>
                  </a:solidFill>
                  <a:latin typeface="Inconsolata" panose="00000509000000000000" pitchFamily="49" charset="0"/>
                </a:rPr>
                <a:t>fov_goal_observation</a:t>
              </a:r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 (</a:t>
              </a:r>
              <a:r>
                <a:rPr lang="en-US" altLang="zh-CN" sz="1600" dirty="0" err="1">
                  <a:solidFill>
                    <a:schemeClr val="tx1"/>
                  </a:solidFill>
                  <a:latin typeface="Inconsolata" panose="00000509000000000000" pitchFamily="49" charset="0"/>
                </a:rPr>
                <a:t>dis,ang</a:t>
              </a:r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9B52D27-006B-3819-BDD5-2D51C86E1C74}"/>
                </a:ext>
              </a:extLst>
            </p:cNvPr>
            <p:cNvSpPr/>
            <p:nvPr/>
          </p:nvSpPr>
          <p:spPr>
            <a:xfrm>
              <a:off x="141425" y="2064019"/>
              <a:ext cx="3938017" cy="7448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trajectory_observation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((</a:t>
              </a:r>
              <a:r>
                <a:rPr lang="en-US" altLang="zh-CN" sz="1600" dirty="0" err="1">
                  <a:solidFill>
                    <a:schemeClr val="tx1"/>
                  </a:solidFill>
                  <a:latin typeface="Inconsolata" panose="00000509000000000000" pitchFamily="49" charset="0"/>
                </a:rPr>
                <a:t>xt,yt</a:t>
              </a:r>
              <a:r>
                <a:rPr lang="en-US" altLang="zh-CN" sz="1600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),(xt+2, yt+2))</a:t>
              </a:r>
              <a:endParaRPr lang="zh-CN" altLang="en-US" sz="1600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0BB3661-34A5-F596-EE62-A6A617D7C313}"/>
                </a:ext>
              </a:extLst>
            </p:cNvPr>
            <p:cNvSpPr txBox="1"/>
            <p:nvPr/>
          </p:nvSpPr>
          <p:spPr>
            <a:xfrm>
              <a:off x="1329821" y="469632"/>
              <a:ext cx="1561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Inconsolata" panose="00000509000000000000" pitchFamily="49" charset="0"/>
                </a:rPr>
                <a:t>Observation</a:t>
              </a:r>
              <a:endParaRPr lang="zh-CN" altLang="en-US" b="1" dirty="0">
                <a:solidFill>
                  <a:schemeClr val="tx1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9EF695C7-3CDC-5DAD-5A39-AD3188092A69}"/>
              </a:ext>
            </a:extLst>
          </p:cNvPr>
          <p:cNvSpPr txBox="1"/>
          <p:nvPr/>
        </p:nvSpPr>
        <p:spPr>
          <a:xfrm>
            <a:off x="5408657" y="3354393"/>
            <a:ext cx="986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</a:rPr>
              <a:t>reward</a:t>
            </a:r>
            <a:endParaRPr lang="zh-CN" altLang="en-US" dirty="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415B9278-3780-F76F-25EB-F0750896A575}"/>
              </a:ext>
            </a:extLst>
          </p:cNvPr>
          <p:cNvSpPr/>
          <p:nvPr/>
        </p:nvSpPr>
        <p:spPr>
          <a:xfrm>
            <a:off x="4470760" y="1768146"/>
            <a:ext cx="573314" cy="342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F7CD22-5920-8252-3AD7-964A78BE63D2}"/>
              </a:ext>
            </a:extLst>
          </p:cNvPr>
          <p:cNvSpPr txBox="1"/>
          <p:nvPr/>
        </p:nvSpPr>
        <p:spPr>
          <a:xfrm>
            <a:off x="4314262" y="2127289"/>
            <a:ext cx="986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Inconsolata" panose="00000509000000000000" pitchFamily="49" charset="0"/>
              </a:rPr>
              <a:t>flatten</a:t>
            </a:r>
            <a:endParaRPr lang="zh-CN" altLang="en-US" sz="1600" dirty="0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52CE140-2205-C428-B3BB-FBE9307D0124}"/>
              </a:ext>
            </a:extLst>
          </p:cNvPr>
          <p:cNvGrpSpPr/>
          <p:nvPr/>
        </p:nvGrpSpPr>
        <p:grpSpPr>
          <a:xfrm>
            <a:off x="486328" y="3926469"/>
            <a:ext cx="11269022" cy="2767277"/>
            <a:chOff x="852087" y="3246157"/>
            <a:chExt cx="11269022" cy="2767277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8CC59263-7233-4E4C-8E1A-8B456C5825A7}"/>
                </a:ext>
              </a:extLst>
            </p:cNvPr>
            <p:cNvSpPr/>
            <p:nvPr/>
          </p:nvSpPr>
          <p:spPr>
            <a:xfrm>
              <a:off x="852087" y="4189494"/>
              <a:ext cx="2846513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accent6"/>
                  </a:solidFill>
                  <a:latin typeface="Inconsolata" panose="00000509000000000000" pitchFamily="49" charset="0"/>
                </a:rPr>
                <a:t>robot_angle_to_box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3B8B1F7A-6161-EC8B-24AE-252B2ABE5249}"/>
                </a:ext>
              </a:extLst>
            </p:cNvPr>
            <p:cNvSpPr/>
            <p:nvPr/>
          </p:nvSpPr>
          <p:spPr>
            <a:xfrm>
              <a:off x="852088" y="3255035"/>
              <a:ext cx="2856710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distance_decrease_reward</a:t>
              </a:r>
              <a:endParaRPr lang="zh-CN" altLang="en-US" sz="1600" b="1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1A8652BF-8013-4C3C-1FC9-DC755FAD897B}"/>
                </a:ext>
              </a:extLst>
            </p:cNvPr>
            <p:cNvSpPr/>
            <p:nvPr/>
          </p:nvSpPr>
          <p:spPr>
            <a:xfrm>
              <a:off x="852088" y="4953928"/>
              <a:ext cx="2846513" cy="52471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reached_box_reward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BE10E1C7-88F4-6AEA-6D20-659E910FC28F}"/>
                </a:ext>
              </a:extLst>
            </p:cNvPr>
            <p:cNvSpPr/>
            <p:nvPr/>
          </p:nvSpPr>
          <p:spPr>
            <a:xfrm>
              <a:off x="3918157" y="3255035"/>
              <a:ext cx="2349731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oscillation_penalty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24DF2C9-EF08-98F7-CB8B-58CA5B3094CC}"/>
                </a:ext>
              </a:extLst>
            </p:cNvPr>
            <p:cNvSpPr/>
            <p:nvPr/>
          </p:nvSpPr>
          <p:spPr>
            <a:xfrm>
              <a:off x="6461653" y="3255035"/>
              <a:ext cx="253485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C00000"/>
                  </a:solidFill>
                  <a:latin typeface="Inconsolata" panose="00000509000000000000" pitchFamily="49" charset="0"/>
                </a:rPr>
                <a:t>out_of_bounds_penalty</a:t>
              </a:r>
              <a:endParaRPr lang="zh-CN" altLang="en-US" sz="1600" dirty="0">
                <a:solidFill>
                  <a:srgbClr val="C0000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8AE02386-D121-A22F-0E2E-66D32FA82196}"/>
                </a:ext>
              </a:extLst>
            </p:cNvPr>
            <p:cNvSpPr/>
            <p:nvPr/>
          </p:nvSpPr>
          <p:spPr>
            <a:xfrm>
              <a:off x="9205865" y="3246157"/>
              <a:ext cx="291524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fov_exploration_reward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8426430B-357C-3876-CA13-38765AC47DCC}"/>
                </a:ext>
              </a:extLst>
            </p:cNvPr>
            <p:cNvSpPr/>
            <p:nvPr/>
          </p:nvSpPr>
          <p:spPr>
            <a:xfrm>
              <a:off x="5025662" y="4176038"/>
              <a:ext cx="7095447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trajectory_distance_reward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4E94D9A3-CCCC-4E87-1827-5CC612207AD8}"/>
                </a:ext>
              </a:extLst>
            </p:cNvPr>
            <p:cNvSpPr/>
            <p:nvPr/>
          </p:nvSpPr>
          <p:spPr>
            <a:xfrm>
              <a:off x="5025662" y="4941253"/>
              <a:ext cx="3789153" cy="52471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trajectory_progress_finish_reward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6C52B537-1208-4010-65C3-8A0296948081}"/>
                </a:ext>
              </a:extLst>
            </p:cNvPr>
            <p:cNvSpPr/>
            <p:nvPr/>
          </p:nvSpPr>
          <p:spPr>
            <a:xfrm>
              <a:off x="8920575" y="4941252"/>
              <a:ext cx="3200532" cy="5247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Inconsolata" panose="00000509000000000000" pitchFamily="49" charset="0"/>
                </a:rPr>
                <a:t>slow_down_near_finish_reward</a:t>
              </a:r>
              <a:endParaRPr lang="zh-CN" altLang="en-US" sz="1600" dirty="0">
                <a:solidFill>
                  <a:schemeClr val="accent6"/>
                </a:solidFill>
                <a:latin typeface="Inconsolata" panose="00000509000000000000" pitchFamily="49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9CFEC0EC-5955-BAF3-41E2-C4CBBE0E1416}"/>
                </a:ext>
              </a:extLst>
            </p:cNvPr>
            <p:cNvCxnSpPr>
              <a:cxnSpLocks/>
            </p:cNvCxnSpPr>
            <p:nvPr/>
          </p:nvCxnSpPr>
          <p:spPr>
            <a:xfrm>
              <a:off x="4337914" y="4048526"/>
              <a:ext cx="0" cy="15727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0A0245F-310F-84D1-9ADA-E40833B90695}"/>
                </a:ext>
              </a:extLst>
            </p:cNvPr>
            <p:cNvSpPr txBox="1"/>
            <p:nvPr/>
          </p:nvSpPr>
          <p:spPr>
            <a:xfrm>
              <a:off x="1324367" y="5621978"/>
              <a:ext cx="1901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Step1: reach box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068D98A-AFB6-9AF0-66D3-53581F6CEE5E}"/>
                </a:ext>
              </a:extLst>
            </p:cNvPr>
            <p:cNvSpPr txBox="1"/>
            <p:nvPr/>
          </p:nvSpPr>
          <p:spPr>
            <a:xfrm>
              <a:off x="6651604" y="5644102"/>
              <a:ext cx="384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Step2: push box tracking the trajectory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2A47D7C-BD24-E125-42FE-D4670B36B502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404233" cy="2143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19C884BF-7809-9F79-E9B7-AC2E6DD40519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280443" y="3779750"/>
              <a:ext cx="6376971" cy="2143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6" name="箭头: 圆角右 65">
            <a:extLst>
              <a:ext uri="{FF2B5EF4-FFF2-40B4-BE49-F238E27FC236}">
                <a16:creationId xmlns:a16="http://schemas.microsoft.com/office/drawing/2014/main" id="{DBB9FDEC-12D4-163E-FCFD-51B31508F20A}"/>
              </a:ext>
            </a:extLst>
          </p:cNvPr>
          <p:cNvSpPr/>
          <p:nvPr/>
        </p:nvSpPr>
        <p:spPr>
          <a:xfrm flipH="1" flipV="1">
            <a:off x="6561734" y="2392515"/>
            <a:ext cx="3593348" cy="1278553"/>
          </a:xfrm>
          <a:prstGeom prst="bentArrow">
            <a:avLst>
              <a:gd name="adj1" fmla="val 14129"/>
              <a:gd name="adj2" fmla="val 13645"/>
              <a:gd name="adj3" fmla="val 29577"/>
              <a:gd name="adj4" fmla="val 4375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CF1563F0-57AB-00AD-3308-CB7CA82ECF51}"/>
              </a:ext>
            </a:extLst>
          </p:cNvPr>
          <p:cNvSpPr/>
          <p:nvPr/>
        </p:nvSpPr>
        <p:spPr>
          <a:xfrm rot="16200000">
            <a:off x="5473801" y="2896724"/>
            <a:ext cx="573314" cy="342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82857B1-75A8-2FC5-3799-A78AAA70FA1A}"/>
              </a:ext>
            </a:extLst>
          </p:cNvPr>
          <p:cNvSpPr/>
          <p:nvPr/>
        </p:nvSpPr>
        <p:spPr>
          <a:xfrm>
            <a:off x="1555407" y="3067735"/>
            <a:ext cx="1439876" cy="4370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Inconsolata" panose="00000509000000000000" pitchFamily="49" charset="0"/>
                <a:ea typeface="Inconsolata" panose="00000509000000000000" pitchFamily="49" charset="0"/>
              </a:rPr>
              <a:t>Action</a:t>
            </a:r>
            <a:endParaRPr lang="zh-CN" altLang="en-US" b="1" dirty="0">
              <a:solidFill>
                <a:schemeClr val="tx1"/>
              </a:solidFill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121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594</Words>
  <Application>Microsoft Office PowerPoint</Application>
  <PresentationFormat>宽屏</PresentationFormat>
  <Paragraphs>113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SourceSansPro-Regular-Identity-H</vt:lpstr>
      <vt:lpstr>SourceSerifPro-Bold-Identity-H</vt:lpstr>
      <vt:lpstr>SourceSerifPro-Light-Identity-H</vt:lpstr>
      <vt:lpstr>等线</vt:lpstr>
      <vt:lpstr>等线 Light</vt:lpstr>
      <vt:lpstr>Arial</vt:lpstr>
      <vt:lpstr>Cambria Math</vt:lpstr>
      <vt:lpstr>Inconsolata</vt:lpstr>
      <vt:lpstr>Inconsolata Medium</vt:lpstr>
      <vt:lpstr>Times New Roman</vt:lpstr>
      <vt:lpstr>Office 主题​​</vt:lpstr>
      <vt:lpstr>Equation</vt:lpstr>
      <vt:lpstr>Low level Policy trainging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哲雄 王</dc:creator>
  <cp:lastModifiedBy>哲雄 王</cp:lastModifiedBy>
  <cp:revision>7</cp:revision>
  <dcterms:created xsi:type="dcterms:W3CDTF">2025-12-03T12:07:15Z</dcterms:created>
  <dcterms:modified xsi:type="dcterms:W3CDTF">2025-12-04T12:08:18Z</dcterms:modified>
</cp:coreProperties>
</file>